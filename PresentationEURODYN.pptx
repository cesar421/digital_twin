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58" r:id="rId5"/>
    <p:sldId id="264" r:id="rId6"/>
    <p:sldId id="266" r:id="rId7"/>
    <p:sldId id="265" r:id="rId8"/>
    <p:sldId id="259" r:id="rId9"/>
    <p:sldId id="260" r:id="rId10"/>
    <p:sldId id="261" r:id="rId11"/>
    <p:sldId id="262" r:id="rId12"/>
  </p:sldIdLst>
  <p:sldSz cx="12192000" cy="6858000"/>
  <p:notesSz cx="10234613" cy="14662150"/>
  <p:defaultTextStyle>
    <a:defPPr>
      <a:defRPr lang="en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5F129D-610B-48B2-946A-1BF9DDBD72B5}">
          <p14:sldIdLst>
            <p14:sldId id="256"/>
            <p14:sldId id="257"/>
            <p14:sldId id="263"/>
            <p14:sldId id="258"/>
            <p14:sldId id="264"/>
            <p14:sldId id="266"/>
            <p14:sldId id="265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  <a:srgbClr val="2CA9BC"/>
    <a:srgbClr val="D40000"/>
    <a:srgbClr val="0F172A"/>
    <a:srgbClr val="E8E8E8"/>
    <a:srgbClr val="B0D6DB"/>
    <a:srgbClr val="E3A3A3"/>
    <a:srgbClr val="CAD3DC"/>
    <a:srgbClr val="215F9A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howGuides="1">
      <p:cViewPr varScale="1">
        <p:scale>
          <a:sx n="150" d="100"/>
          <a:sy n="150" d="100"/>
        </p:scale>
        <p:origin x="-24" y="1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735654"/>
          </a:xfrm>
          <a:prstGeom prst="rect">
            <a:avLst/>
          </a:prstGeom>
        </p:spPr>
        <p:txBody>
          <a:bodyPr vert="horz" lIns="142243" tIns="71122" rIns="142243" bIns="71122" rtlCol="0"/>
          <a:lstStyle>
            <a:lvl1pPr algn="l">
              <a:defRPr sz="19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735654"/>
          </a:xfrm>
          <a:prstGeom prst="rect">
            <a:avLst/>
          </a:prstGeom>
        </p:spPr>
        <p:txBody>
          <a:bodyPr vert="horz" lIns="142243" tIns="71122" rIns="142243" bIns="71122" rtlCol="0"/>
          <a:lstStyle>
            <a:lvl1pPr algn="r">
              <a:defRPr sz="1900"/>
            </a:lvl1pPr>
          </a:lstStyle>
          <a:p>
            <a:fld id="{843C0AA0-5300-4345-8EBD-6ECC21F578F8}" type="datetimeFigureOut">
              <a:rPr lang="en-DE" smtClean="0"/>
              <a:t>09/21/2026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833563"/>
            <a:ext cx="8796337" cy="4948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43" tIns="71122" rIns="142243" bIns="71122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7056159"/>
            <a:ext cx="8187690" cy="5773222"/>
          </a:xfrm>
          <a:prstGeom prst="rect">
            <a:avLst/>
          </a:prstGeom>
        </p:spPr>
        <p:txBody>
          <a:bodyPr vert="horz" lIns="142243" tIns="71122" rIns="142243" bIns="71122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3926499"/>
            <a:ext cx="4434999" cy="735652"/>
          </a:xfrm>
          <a:prstGeom prst="rect">
            <a:avLst/>
          </a:prstGeom>
        </p:spPr>
        <p:txBody>
          <a:bodyPr vert="horz" lIns="142243" tIns="71122" rIns="142243" bIns="71122" rtlCol="0" anchor="b"/>
          <a:lstStyle>
            <a:lvl1pPr algn="l">
              <a:defRPr sz="19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13926499"/>
            <a:ext cx="4434999" cy="735652"/>
          </a:xfrm>
          <a:prstGeom prst="rect">
            <a:avLst/>
          </a:prstGeom>
        </p:spPr>
        <p:txBody>
          <a:bodyPr vert="horz" lIns="142243" tIns="71122" rIns="142243" bIns="71122" rtlCol="0" anchor="b"/>
          <a:lstStyle>
            <a:lvl1pPr algn="r">
              <a:defRPr sz="1900"/>
            </a:lvl1pPr>
          </a:lstStyle>
          <a:p>
            <a:fld id="{9FA656E5-3800-4AF2-9255-7876606778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880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hyperlink" Target="mailto:endegena.ayalew.zelelew@uni-Weimar.de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1.sv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6579-4D60-D088-DF83-D3B90226C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440" y="1196752"/>
            <a:ext cx="10081120" cy="178013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EE76D-E12A-5DA2-DFC1-9DF53F06C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440" y="3280526"/>
            <a:ext cx="10081120" cy="190533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D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3557A05-89C9-FB14-09D5-ACD4B6D6AF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689425"/>
            <a:ext cx="3452039" cy="116780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068DDA8-708A-E78E-07F2-625EC3C915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2402" y="5690096"/>
            <a:ext cx="4053219" cy="117235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EA340C8-2EE7-DBE9-A71A-1F22A19814A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7652" y="5690275"/>
            <a:ext cx="3555515" cy="1166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17E493-221C-1BE7-9854-283FAEE4736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39966"/>
            <a:ext cx="4032448" cy="102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62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4551A-561F-6795-4AF1-66000C0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517817-A903-8E52-8218-F67B016212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004FB-43F9-07D3-3013-9F8ACB568AEE}"/>
              </a:ext>
            </a:extLst>
          </p:cNvPr>
          <p:cNvSpPr txBox="1"/>
          <p:nvPr userDrawn="1"/>
        </p:nvSpPr>
        <p:spPr>
          <a:xfrm>
            <a:off x="0" y="-46662"/>
            <a:ext cx="5041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Fira Sans" panose="020B0503050000020004" pitchFamily="34" charset="0"/>
              </a:rPr>
              <a:t>Introduction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Methodology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Implementation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Results | Conclusion</a:t>
            </a:r>
            <a:endParaRPr lang="en-DE" sz="1200" b="1" dirty="0">
              <a:solidFill>
                <a:srgbClr val="64748B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759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4551A-561F-6795-4AF1-66000C0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B46F5-8FC3-6F71-961B-E9A578495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7CF16-25D4-B96D-91F2-F96795D65EE8}"/>
              </a:ext>
            </a:extLst>
          </p:cNvPr>
          <p:cNvSpPr txBox="1"/>
          <p:nvPr userDrawn="1"/>
        </p:nvSpPr>
        <p:spPr>
          <a:xfrm>
            <a:off x="0" y="-46662"/>
            <a:ext cx="5041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Introduction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</a:t>
            </a:r>
            <a:r>
              <a:rPr lang="en-GB" sz="1200" b="1" dirty="0">
                <a:solidFill>
                  <a:schemeClr val="bg1"/>
                </a:solidFill>
                <a:latin typeface="Fira Sans" panose="020B0503050000020004" pitchFamily="34" charset="0"/>
              </a:rPr>
              <a:t>Methodology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Implementation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Results | Conclusion</a:t>
            </a:r>
            <a:endParaRPr lang="en-DE" sz="1200" b="1" dirty="0">
              <a:solidFill>
                <a:srgbClr val="64748B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0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4551A-561F-6795-4AF1-66000C0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65610-9416-CBDB-0B82-BC8032AA1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7C101-3CAE-95AF-EE22-341D8E08C837}"/>
              </a:ext>
            </a:extLst>
          </p:cNvPr>
          <p:cNvSpPr txBox="1"/>
          <p:nvPr userDrawn="1"/>
        </p:nvSpPr>
        <p:spPr>
          <a:xfrm>
            <a:off x="0" y="-46662"/>
            <a:ext cx="5041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Introduction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Methodology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 </a:t>
            </a:r>
            <a:r>
              <a:rPr lang="en-GB" sz="1200" b="1" dirty="0">
                <a:solidFill>
                  <a:schemeClr val="bg1"/>
                </a:solidFill>
                <a:latin typeface="Fira Sans" panose="020B0503050000020004" pitchFamily="34" charset="0"/>
              </a:rPr>
              <a:t>Implementation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Results | Conclusion</a:t>
            </a:r>
            <a:endParaRPr lang="en-DE" sz="1200" b="1" dirty="0">
              <a:solidFill>
                <a:srgbClr val="64748B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687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4551A-561F-6795-4AF1-66000C0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A0B35-B8C5-0459-8DA6-6B94FCB31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FC304-C271-10F8-AB0E-BA47956B561E}"/>
              </a:ext>
            </a:extLst>
          </p:cNvPr>
          <p:cNvSpPr txBox="1"/>
          <p:nvPr userDrawn="1"/>
        </p:nvSpPr>
        <p:spPr>
          <a:xfrm>
            <a:off x="0" y="-46662"/>
            <a:ext cx="5166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Introduction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Methodology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 </a:t>
            </a:r>
            <a:r>
              <a:rPr lang="en-GB" sz="1200" b="1" kern="1200" dirty="0">
                <a:solidFill>
                  <a:srgbClr val="64748B"/>
                </a:solidFill>
                <a:latin typeface="Fira Sans" panose="020B0503050000020004" pitchFamily="34" charset="0"/>
                <a:ea typeface="+mn-ea"/>
                <a:cs typeface="+mn-cs"/>
              </a:rPr>
              <a:t>Implementation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chemeClr val="bg1"/>
                </a:solidFill>
                <a:latin typeface="Fira Sans" panose="020B0503050000020004" pitchFamily="34" charset="0"/>
              </a:rPr>
              <a:t>Results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| Conclusion</a:t>
            </a:r>
            <a:endParaRPr lang="en-DE" sz="1200" b="1" dirty="0">
              <a:solidFill>
                <a:srgbClr val="64748B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6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C179-2DFF-D8C1-0C61-ACF199D9F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D0F8D0-8677-63E6-83D3-C5BB5B08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DF128-80FE-E885-2BC7-F40B890FFA57}"/>
              </a:ext>
            </a:extLst>
          </p:cNvPr>
          <p:cNvSpPr txBox="1"/>
          <p:nvPr userDrawn="1"/>
        </p:nvSpPr>
        <p:spPr>
          <a:xfrm>
            <a:off x="0" y="-46662"/>
            <a:ext cx="5115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Introduction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 Methodology 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Implementation </a:t>
            </a:r>
            <a:r>
              <a:rPr lang="en-GB" sz="1200" b="1" dirty="0">
                <a:solidFill>
                  <a:srgbClr val="334155"/>
                </a:solidFill>
                <a:latin typeface="Fira Sans" panose="020B0503050000020004" pitchFamily="34" charset="0"/>
              </a:rPr>
              <a:t>| </a:t>
            </a:r>
            <a:r>
              <a:rPr lang="en-GB" sz="1200" b="1" dirty="0">
                <a:solidFill>
                  <a:srgbClr val="64748B"/>
                </a:solidFill>
                <a:latin typeface="Fira Sans" panose="020B0503050000020004" pitchFamily="34" charset="0"/>
              </a:rPr>
              <a:t>Results | </a:t>
            </a:r>
            <a:r>
              <a:rPr lang="en-GB" sz="1200" b="1" dirty="0">
                <a:solidFill>
                  <a:schemeClr val="bg1"/>
                </a:solidFill>
                <a:latin typeface="Fira Sans" panose="020B0503050000020004" pitchFamily="34" charset="0"/>
              </a:rPr>
              <a:t>Conclusion</a:t>
            </a:r>
            <a:endParaRPr lang="en-DE" sz="1200" b="1" dirty="0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484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C8CE-A406-0372-224C-4F35DA8E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4551A-561F-6795-4AF1-66000C092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References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4930B-D773-92BF-5056-72D525EE7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225660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C424A40-C077-3D04-C186-1D4FA6FC06FD}"/>
              </a:ext>
            </a:extLst>
          </p:cNvPr>
          <p:cNvSpPr txBox="1"/>
          <p:nvPr userDrawn="1"/>
        </p:nvSpPr>
        <p:spPr>
          <a:xfrm>
            <a:off x="3288000" y="3137400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Fira Sans" panose="020B0503050000020004" pitchFamily="34" charset="0"/>
              </a:rPr>
              <a:t>Thank you for your attention!</a:t>
            </a:r>
            <a:endParaRPr lang="en-DE" sz="3200" b="1" dirty="0">
              <a:latin typeface="Fira Sans" panose="020B05030500000200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F4D1D-7CBF-6ED5-C7FF-465699AE8AB1}"/>
              </a:ext>
            </a:extLst>
          </p:cNvPr>
          <p:cNvSpPr txBox="1"/>
          <p:nvPr userDrawn="1"/>
        </p:nvSpPr>
        <p:spPr>
          <a:xfrm>
            <a:off x="3360000" y="4104000"/>
            <a:ext cx="547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Fira Sans" panose="020B0503050000020004" pitchFamily="34" charset="0"/>
              </a:rPr>
              <a:t>Contact: </a:t>
            </a:r>
            <a:r>
              <a:rPr lang="en-GB" sz="1800" b="0" dirty="0">
                <a:latin typeface="Fira Sans" panose="020B0503050000020004" pitchFamily="34" charset="0"/>
                <a:hlinkClick r:id="rId2"/>
              </a:rPr>
              <a:t>endegena.ayalew.zelelew@uni-weimar.de</a:t>
            </a:r>
            <a:endParaRPr lang="en-DE" sz="1800" b="1" dirty="0">
              <a:latin typeface="Fira Sans" panose="020B05030500000200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537BDE-66AB-3FEF-D458-B6958DA57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4A572F-CF25-89CA-DA35-7A015FB921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980" y="320636"/>
            <a:ext cx="3452039" cy="116780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A32097D-CAA4-4527-8ED1-29ABA411CB4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016" y="1774128"/>
            <a:ext cx="4053219" cy="117235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9B8070-BA9C-1C63-F026-4828C02D85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9536" y="1779528"/>
            <a:ext cx="3555515" cy="116695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389A2-09CB-B32B-18AC-6ADE6690ED4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9050" y="4855157"/>
            <a:ext cx="1973897" cy="116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93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BD75248-9A10-8355-97A5-5E36A1F407AC}"/>
              </a:ext>
            </a:extLst>
          </p:cNvPr>
          <p:cNvSpPr/>
          <p:nvPr userDrawn="1"/>
        </p:nvSpPr>
        <p:spPr>
          <a:xfrm>
            <a:off x="-24680" y="-5021"/>
            <a:ext cx="12241360" cy="19366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400" dirty="0">
              <a:highlight>
                <a:srgbClr val="808080"/>
              </a:highlight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6CA61-2147-0B44-E975-67E39D4CB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492"/>
            <a:ext cx="10515600" cy="54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664C-F121-26D7-4B15-F8A2236AD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1649"/>
            <a:ext cx="10515600" cy="5461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E3364-F310-E870-6042-77A156C4683E}"/>
              </a:ext>
            </a:extLst>
          </p:cNvPr>
          <p:cNvSpPr txBox="1"/>
          <p:nvPr userDrawn="1"/>
        </p:nvSpPr>
        <p:spPr>
          <a:xfrm>
            <a:off x="10895368" y="6606000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tx1"/>
                </a:solidFill>
                <a:latin typeface="Fira Sans" panose="020B0503050000020004" pitchFamily="34" charset="0"/>
              </a:rPr>
              <a:t>29.09.2026  |</a:t>
            </a:r>
            <a:endParaRPr lang="en-DE" sz="1200" b="1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693D74-C1E1-5433-5408-394A4E37C1B5}"/>
              </a:ext>
            </a:extLst>
          </p:cNvPr>
          <p:cNvCxnSpPr>
            <a:cxnSpLocks/>
          </p:cNvCxnSpPr>
          <p:nvPr userDrawn="1"/>
        </p:nvCxnSpPr>
        <p:spPr>
          <a:xfrm>
            <a:off x="-24680" y="197636"/>
            <a:ext cx="12241360" cy="0"/>
          </a:xfrm>
          <a:prstGeom prst="line">
            <a:avLst/>
          </a:prstGeom>
          <a:ln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2376C-F87C-1A75-D62C-A2C8BA0D6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736" y="6605997"/>
            <a:ext cx="433264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5D1D3C8C-6A16-47C5-AAF2-6C742C9BB8A7}" type="slidenum">
              <a:rPr lang="en-DE" smtClean="0"/>
              <a:pPr/>
              <a:t>‹#›</a:t>
            </a:fld>
            <a:endParaRPr lang="en-DE" b="1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42AD1D2-5ADF-869C-CBC4-8C640358867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85" y="6446437"/>
            <a:ext cx="1195671" cy="40448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6DEA722-3CD5-B48E-3BD0-9238C00FD36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51900" y="6511331"/>
            <a:ext cx="2991024" cy="3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2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62" r:id="rId5"/>
    <p:sldLayoutId id="2147483657" r:id="rId6"/>
    <p:sldLayoutId id="2147483660" r:id="rId7"/>
    <p:sldLayoutId id="2147483659" r:id="rId8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Fira Sans" panose="020B05030500000200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lucid.app/lucidchart/d5800343-e4af-4834-ada3-b4818535f564/edit?crop=content&amp;page=0&amp;signature=f2c01f0809777e03335fd4ac1ea83890ea710e8a8f5c09074550fcf955759f33" TargetMode="External"/><Relationship Id="rId7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1.png"/><Relationship Id="rId7" Type="http://schemas.openxmlformats.org/officeDocument/2006/relationships/image" Target="../media/image32.jpg"/><Relationship Id="rId12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jp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B35610-EF34-8F44-CB3D-750D44E34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Linotype Syntax"/>
              </a:rPr>
              <a:t>Digital Twin-Based Wind Load Assessment of a GDR Heritage Building under Climate Change</a:t>
            </a:r>
            <a:br>
              <a:rPr lang="de-DE" dirty="0">
                <a:latin typeface="Linotype Syntax"/>
              </a:rPr>
            </a:br>
            <a:endParaRPr lang="en-D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DDAFF5-6D0B-280E-51E4-A1700F97C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440" y="3280527"/>
            <a:ext cx="10081120" cy="1300602"/>
          </a:xfrm>
        </p:spPr>
        <p:txBody>
          <a:bodyPr>
            <a:normAutofit/>
          </a:bodyPr>
          <a:lstStyle/>
          <a:p>
            <a:r>
              <a:rPr lang="de-DE" b="1" u="sng" dirty="0"/>
              <a:t>Cesar Fernando Gamba Tiusaba</a:t>
            </a:r>
            <a:r>
              <a:rPr lang="en-GB" u="sng" baseline="30000" dirty="0"/>
              <a:t>1</a:t>
            </a:r>
            <a:r>
              <a:rPr lang="de-DE" sz="2000" b="1" dirty="0">
                <a:solidFill>
                  <a:srgbClr val="000000"/>
                </a:solidFill>
                <a:latin typeface="Linotype Syntax"/>
              </a:rPr>
              <a:t>, </a:t>
            </a:r>
            <a:r>
              <a:rPr lang="de-DE" sz="2000" dirty="0">
                <a:solidFill>
                  <a:srgbClr val="000000"/>
                </a:solidFill>
                <a:latin typeface="Linotype Syntax"/>
              </a:rPr>
              <a:t>Itzel Sandoval Maldonado</a:t>
            </a:r>
            <a:r>
              <a:rPr lang="en-GB" baseline="30000" dirty="0"/>
              <a:t>1</a:t>
            </a:r>
            <a:r>
              <a:rPr lang="de-DE" sz="2000" b="1" dirty="0">
                <a:solidFill>
                  <a:srgbClr val="000000"/>
                </a:solidFill>
                <a:latin typeface="Linotype Syntax"/>
              </a:rPr>
              <a:t>, </a:t>
            </a:r>
            <a:r>
              <a:rPr lang="de-DE" sz="2000" dirty="0">
                <a:solidFill>
                  <a:srgbClr val="000000"/>
                </a:solidFill>
                <a:latin typeface="Linotype Syntax"/>
              </a:rPr>
              <a:t>Keangsinh Taing</a:t>
            </a:r>
            <a:r>
              <a:rPr lang="en-GB" baseline="30000" dirty="0"/>
              <a:t> 1</a:t>
            </a:r>
            <a:r>
              <a:rPr lang="de-DE" sz="2000" dirty="0">
                <a:solidFill>
                  <a:srgbClr val="000000"/>
                </a:solidFill>
                <a:latin typeface="Linotype Syntax"/>
              </a:rPr>
              <a:t>, Eva</a:t>
            </a:r>
          </a:p>
          <a:p>
            <a:r>
              <a:rPr lang="de-DE" sz="2000" dirty="0">
                <a:solidFill>
                  <a:srgbClr val="000000"/>
                </a:solidFill>
                <a:latin typeface="Linotype Syntax"/>
              </a:rPr>
              <a:t>Griebl</a:t>
            </a:r>
            <a:r>
              <a:rPr lang="en-GB" baseline="30000" dirty="0"/>
              <a:t> 1</a:t>
            </a:r>
            <a:r>
              <a:rPr lang="de-DE" sz="2000" dirty="0">
                <a:solidFill>
                  <a:srgbClr val="000000"/>
                </a:solidFill>
                <a:latin typeface="Linotype Syntax"/>
              </a:rPr>
              <a:t> and Anastasia Athanasiou</a:t>
            </a:r>
            <a:r>
              <a:rPr lang="en-GB" baseline="30000" dirty="0"/>
              <a:t> 1</a:t>
            </a:r>
            <a:endParaRPr lang="de-DE" sz="2000" dirty="0">
              <a:solidFill>
                <a:srgbClr val="000000"/>
              </a:solidFill>
              <a:latin typeface="Linotype Syntax"/>
            </a:endParaRPr>
          </a:p>
          <a:p>
            <a:r>
              <a:rPr lang="en-GB" baseline="30000" dirty="0"/>
              <a:t>1</a:t>
            </a:r>
            <a:r>
              <a:rPr lang="de-DE" dirty="0"/>
              <a:t>Bauhaus-Universität Weimar, Germany</a:t>
            </a:r>
          </a:p>
        </p:txBody>
      </p:sp>
    </p:spTree>
    <p:extLst>
      <p:ext uri="{BB962C8B-B14F-4D97-AF65-F5344CB8AC3E}">
        <p14:creationId xmlns:p14="http://schemas.microsoft.com/office/powerpoint/2010/main" val="301089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163806-60F4-0CD0-7EFD-393AC056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0A222-57D5-2EEF-AE31-3E8E7A1CDB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2</a:t>
            </a:fld>
            <a:endParaRPr lang="en-DE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A9698C-3C03-3250-12FA-E610E5F1D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5E1F93-7041-4820-AFAD-E73A549C24C8}"/>
              </a:ext>
            </a:extLst>
          </p:cNvPr>
          <p:cNvGrpSpPr/>
          <p:nvPr/>
        </p:nvGrpSpPr>
        <p:grpSpPr>
          <a:xfrm>
            <a:off x="3143672" y="1268760"/>
            <a:ext cx="6061556" cy="4147140"/>
            <a:chOff x="112472" y="2403145"/>
            <a:chExt cx="6695773" cy="429757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80CA59B-947A-41BE-8385-382D45B3F4CE}"/>
                </a:ext>
              </a:extLst>
            </p:cNvPr>
            <p:cNvGrpSpPr/>
            <p:nvPr/>
          </p:nvGrpSpPr>
          <p:grpSpPr>
            <a:xfrm>
              <a:off x="112472" y="2403145"/>
              <a:ext cx="6695773" cy="4297572"/>
              <a:chOff x="176604" y="1914976"/>
              <a:chExt cx="6695773" cy="4297572"/>
            </a:xfrm>
          </p:grpSpPr>
          <p:pic>
            <p:nvPicPr>
              <p:cNvPr id="9" name="Picture 4" descr="undefined">
                <a:extLst>
                  <a:ext uri="{FF2B5EF4-FFF2-40B4-BE49-F238E27FC236}">
                    <a16:creationId xmlns:a16="http://schemas.microsoft.com/office/drawing/2014/main" id="{021514E1-4300-45AB-BF56-B97DBAA28F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604" y="1914976"/>
                <a:ext cx="6695773" cy="40359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089C8-9699-44EE-A5F5-EC5520A3CDB6}"/>
                  </a:ext>
                </a:extLst>
              </p:cNvPr>
              <p:cNvSpPr txBox="1"/>
              <p:nvPr/>
            </p:nvSpPr>
            <p:spPr>
              <a:xfrm>
                <a:off x="5049329" y="5950938"/>
                <a:ext cx="161026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>
                    <a:latin typeface="Bahnschrift" panose="020B0502040204020203" pitchFamily="34" charset="0"/>
                  </a:rPr>
                  <a:t>Wikipedia: Digital twin.</a:t>
                </a:r>
                <a:endParaRPr lang="de-DE" sz="1100" dirty="0"/>
              </a:p>
            </p:txBody>
          </p:sp>
        </p:grpSp>
        <p:pic>
          <p:nvPicPr>
            <p:cNvPr id="7" name="Picture 2" descr="ícone Vein Ilustrações, Vetores E Clipart De Stock – (23,188,542 Stock  Illustrations)">
              <a:extLst>
                <a:ext uri="{FF2B5EF4-FFF2-40B4-BE49-F238E27FC236}">
                  <a16:creationId xmlns:a16="http://schemas.microsoft.com/office/drawing/2014/main" id="{39BBF344-B58B-4AE2-A5F2-8C7AD06412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06" t="11535" r="69019" b="53288"/>
            <a:stretch/>
          </p:blipFill>
          <p:spPr bwMode="auto">
            <a:xfrm>
              <a:off x="3021604" y="3640348"/>
              <a:ext cx="918958" cy="703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86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2C387D-8927-4BA3-8CB6-F2B05349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5D562F-0690-4FD9-B1E1-117277B5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0BFDC-69D2-4E1A-BF53-7F1C96582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3</a:t>
            </a:fld>
            <a:endParaRPr lang="en-DE" b="1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7BFFDCDC-3E5A-493C-BBF8-E7F67D56BF72}"/>
              </a:ext>
            </a:extLst>
          </p:cNvPr>
          <p:cNvSpPr txBox="1">
            <a:spLocks/>
          </p:cNvSpPr>
          <p:nvPr/>
        </p:nvSpPr>
        <p:spPr>
          <a:xfrm>
            <a:off x="1038843" y="1685664"/>
            <a:ext cx="4857427" cy="2460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b="1"/>
              <a:t>Problem</a:t>
            </a:r>
            <a:endParaRPr lang="de-DE" b="1"/>
          </a:p>
          <a:p>
            <a:pPr algn="just"/>
            <a:r>
              <a:rPr lang="de-DE">
                <a:solidFill>
                  <a:srgbClr val="FF0000"/>
                </a:solidFill>
              </a:rPr>
              <a:t>Climate change </a:t>
            </a:r>
            <a:r>
              <a:rPr lang="de-DE"/>
              <a:t>is intensifying extreme events.</a:t>
            </a:r>
          </a:p>
          <a:p>
            <a:pPr algn="just"/>
            <a:r>
              <a:rPr lang="en-GB"/>
              <a:t>Many existing buildings — especially those built during the DDR period — are approaching or </a:t>
            </a:r>
            <a:r>
              <a:rPr lang="en-GB">
                <a:solidFill>
                  <a:srgbClr val="FF0000"/>
                </a:solidFill>
              </a:rPr>
              <a:t>exceeding their service life</a:t>
            </a:r>
            <a:r>
              <a:rPr lang="en-GB"/>
              <a:t>.</a:t>
            </a:r>
          </a:p>
          <a:p>
            <a:pPr algn="just"/>
            <a:r>
              <a:rPr lang="en-GB"/>
              <a:t>There is an urgent need for </a:t>
            </a:r>
            <a:r>
              <a:rPr lang="en-GB">
                <a:solidFill>
                  <a:schemeClr val="accent1">
                    <a:lumMod val="75000"/>
                  </a:schemeClr>
                </a:solidFill>
              </a:rPr>
              <a:t>monitoring</a:t>
            </a:r>
            <a:r>
              <a:rPr lang="en-GB"/>
              <a:t>, </a:t>
            </a:r>
            <a:r>
              <a:rPr lang="en-GB">
                <a:solidFill>
                  <a:schemeClr val="accent1">
                    <a:lumMod val="75000"/>
                  </a:schemeClr>
                </a:solidFill>
              </a:rPr>
              <a:t>model calibration </a:t>
            </a:r>
            <a:r>
              <a:rPr lang="en-GB"/>
              <a:t>and </a:t>
            </a:r>
            <a:r>
              <a:rPr lang="en-GB">
                <a:solidFill>
                  <a:schemeClr val="accent1">
                    <a:lumMod val="75000"/>
                  </a:schemeClr>
                </a:solidFill>
              </a:rPr>
              <a:t>forecasting</a:t>
            </a:r>
            <a:r>
              <a:rPr lang="en-GB"/>
              <a:t>.  </a:t>
            </a:r>
          </a:p>
          <a:p>
            <a:pPr algn="just"/>
            <a:endParaRPr lang="en-GB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CC5476F-A431-4B06-B208-52E8C52AFA8B}"/>
              </a:ext>
            </a:extLst>
          </p:cNvPr>
          <p:cNvSpPr txBox="1">
            <a:spLocks/>
          </p:cNvSpPr>
          <p:nvPr/>
        </p:nvSpPr>
        <p:spPr>
          <a:xfrm>
            <a:off x="6477000" y="1685664"/>
            <a:ext cx="48574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Research Aim</a:t>
            </a:r>
            <a:endParaRPr lang="de-DE" sz="2000" b="1" dirty="0"/>
          </a:p>
          <a:p>
            <a:pPr algn="just"/>
            <a:r>
              <a:rPr lang="en-GB" sz="2000" dirty="0"/>
              <a:t>Real-time Structural Health Monitoring (SHM) using a Digital Twin approach. </a:t>
            </a:r>
          </a:p>
          <a:p>
            <a:pPr algn="just"/>
            <a:r>
              <a:rPr lang="en-GB" sz="2000" dirty="0"/>
              <a:t>Most SHM commercial systems:</a:t>
            </a:r>
          </a:p>
          <a:p>
            <a:pPr lvl="1"/>
            <a:r>
              <a:rPr lang="en-GB" sz="2000" dirty="0"/>
              <a:t>are </a:t>
            </a:r>
            <a:r>
              <a:rPr lang="en-GB" sz="2000" dirty="0">
                <a:solidFill>
                  <a:srgbClr val="FF0000"/>
                </a:solidFill>
              </a:rPr>
              <a:t>expensive</a:t>
            </a:r>
          </a:p>
          <a:p>
            <a:pPr lvl="1"/>
            <a:r>
              <a:rPr lang="en-GB" sz="2000" dirty="0"/>
              <a:t>use proprietary SaaS platforms</a:t>
            </a:r>
          </a:p>
          <a:p>
            <a:pPr lvl="1"/>
            <a:r>
              <a:rPr lang="en-GB" sz="2000" dirty="0"/>
              <a:t>operate as </a:t>
            </a:r>
            <a:r>
              <a:rPr lang="en-GB" sz="2000" dirty="0">
                <a:solidFill>
                  <a:srgbClr val="FF0000"/>
                </a:solidFill>
              </a:rPr>
              <a:t>black-box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2000" dirty="0"/>
              <a:t>solutions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711771-DF71-4EBC-9CCF-E1D1A5D6F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5" r="11906"/>
          <a:stretch>
            <a:fillRect/>
          </a:stretch>
        </p:blipFill>
        <p:spPr>
          <a:xfrm>
            <a:off x="2495600" y="3991137"/>
            <a:ext cx="2105990" cy="236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5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9CC41-CD3B-C190-B954-6428DEBFF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45F302-6A81-5565-9920-82ED2C36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EF175-CB49-9A69-CB8B-3B191AC5C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4</a:t>
            </a:fld>
            <a:endParaRPr lang="en-DE" b="1" dirty="0"/>
          </a:p>
        </p:txBody>
      </p:sp>
      <p:sp>
        <p:nvSpPr>
          <p:cNvPr id="5" name="Textfeld 14">
            <a:extLst>
              <a:ext uri="{FF2B5EF4-FFF2-40B4-BE49-F238E27FC236}">
                <a16:creationId xmlns:a16="http://schemas.microsoft.com/office/drawing/2014/main" id="{2372F457-FBFB-4F3F-88A6-14F65A71678C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6B5B904-4F93-4729-BDFC-44D4E82188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" t="3322"/>
          <a:stretch/>
        </p:blipFill>
        <p:spPr>
          <a:xfrm>
            <a:off x="490315" y="2805443"/>
            <a:ext cx="2611994" cy="1490653"/>
          </a:xfrm>
          <a:prstGeom prst="rect">
            <a:avLst/>
          </a:prstGeom>
        </p:spPr>
      </p:pic>
      <p:pic>
        <p:nvPicPr>
          <p:cNvPr id="7" name="Picture 6" title="Blank diagram">
            <a:hlinkClick r:id="rId3"/>
            <a:extLst>
              <a:ext uri="{FF2B5EF4-FFF2-40B4-BE49-F238E27FC236}">
                <a16:creationId xmlns:a16="http://schemas.microsoft.com/office/drawing/2014/main" id="{298E1BF7-4E61-4928-B4D6-AC12D0F02E5E}"/>
              </a:ext>
            </a:extLst>
          </p:cNvPr>
          <p:cNvPicPr/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189" b="99447" l="4980" r="98933">
                        <a14:foregroundMark x1="5742" y1="6083" x2="8333" y2="38894"/>
                        <a14:foregroundMark x1="8333" y1="38894" x2="24289" y2="49401"/>
                        <a14:foregroundMark x1="24289" y1="49401" x2="37043" y2="48203"/>
                        <a14:foregroundMark x1="37043" y1="48203" x2="43496" y2="52350"/>
                        <a14:foregroundMark x1="43496" y1="52350" x2="51118" y2="89401"/>
                        <a14:foregroundMark x1="51118" y1="89401" x2="59045" y2="93641"/>
                        <a14:foregroundMark x1="59045" y1="93641" x2="73831" y2="52074"/>
                        <a14:foregroundMark x1="73831" y1="52074" x2="81707" y2="45991"/>
                        <a14:foregroundMark x1="81707" y1="45991" x2="85772" y2="29862"/>
                        <a14:foregroundMark x1="85772" y1="29862" x2="83232" y2="15023"/>
                        <a14:foregroundMark x1="83232" y1="15023" x2="69512" y2="7189"/>
                        <a14:foregroundMark x1="69512" y1="7189" x2="4980" y2="7465"/>
                        <a14:foregroundMark x1="62602" y1="17051" x2="70274" y2="33088"/>
                        <a14:foregroundMark x1="70274" y1="33088" x2="69055" y2="19816"/>
                        <a14:foregroundMark x1="69055" y1="19816" x2="62907" y2="19355"/>
                        <a14:foregroundMark x1="62907" y1="19355" x2="62246" y2="19724"/>
                        <a14:foregroundMark x1="76778" y1="17880" x2="82419" y2="35484"/>
                        <a14:foregroundMark x1="82419" y1="35484" x2="84553" y2="23041"/>
                        <a14:foregroundMark x1="84553" y1="23041" x2="77642" y2="19078"/>
                        <a14:foregroundMark x1="85061" y1="23963" x2="93191" y2="24424"/>
                        <a14:foregroundMark x1="81809" y1="23226" x2="84858" y2="29124"/>
                        <a14:foregroundMark x1="90650" y1="20092" x2="95986" y2="27926"/>
                        <a14:foregroundMark x1="95986" y1="27926" x2="89787" y2="20092"/>
                        <a14:foregroundMark x1="89787" y1="20092" x2="88516" y2="20369"/>
                        <a14:foregroundMark x1="51829" y1="53456" x2="46392" y2="62673"/>
                        <a14:foregroundMark x1="46392" y1="62673" x2="47053" y2="88295"/>
                        <a14:foregroundMark x1="47053" y1="88295" x2="57520" y2="97235"/>
                        <a14:foregroundMark x1="57520" y1="97235" x2="68750" y2="94194"/>
                        <a14:foregroundMark x1="68750" y1="94194" x2="76575" y2="77327"/>
                        <a14:foregroundMark x1="76575" y1="77327" x2="74746" y2="60276"/>
                        <a14:foregroundMark x1="74746" y1="60276" x2="61839" y2="51889"/>
                        <a14:foregroundMark x1="61839" y1="51889" x2="48323" y2="55115"/>
                        <a14:foregroundMark x1="43547" y1="52166" x2="45274" y2="93456"/>
                        <a14:foregroundMark x1="45274" y1="93456" x2="58232" y2="98249"/>
                        <a14:foregroundMark x1="58232" y1="98249" x2="67734" y2="97972"/>
                        <a14:foregroundMark x1="67734" y1="97972" x2="69309" y2="61659"/>
                        <a14:foregroundMark x1="69309" y1="61659" x2="40955" y2="52811"/>
                        <a14:foregroundMark x1="25762" y1="54101" x2="28455" y2="79908"/>
                        <a14:foregroundMark x1="28455" y1="79908" x2="41972" y2="81475"/>
                        <a14:foregroundMark x1="41972" y1="81475" x2="46087" y2="68387"/>
                        <a14:foregroundMark x1="46087" y1="68387" x2="45579" y2="56959"/>
                        <a14:foregroundMark x1="30285" y1="53641" x2="37500" y2="71152"/>
                        <a14:foregroundMark x1="37500" y1="71152" x2="42785" y2="59078"/>
                        <a14:foregroundMark x1="42785" y1="59078" x2="36280" y2="54839"/>
                        <a14:foregroundMark x1="86128" y1="28664" x2="92937" y2="28756"/>
                        <a14:foregroundMark x1="92937" y1="28756" x2="97917" y2="21567"/>
                        <a14:foregroundMark x1="97917" y1="21567" x2="86179" y2="18710"/>
                        <a14:foregroundMark x1="85722" y1="16866" x2="92175" y2="16774"/>
                        <a14:foregroundMark x1="92175" y1="16774" x2="98933" y2="23041"/>
                        <a14:foregroundMark x1="98933" y1="23041" x2="88720" y2="33641"/>
                        <a14:foregroundMark x1="88720" y1="33641" x2="86026" y2="34194"/>
                        <a14:foregroundMark x1="94563" y1="26912" x2="97459" y2="27097"/>
                        <a14:foregroundMark x1="97307" y1="26083" x2="97663" y2="21106"/>
                        <a14:foregroundMark x1="30285" y1="62396" x2="35061" y2="73456"/>
                        <a14:foregroundMark x1="70427" y1="89032" x2="70579" y2="74839"/>
                        <a14:foregroundMark x1="43343" y1="85530" x2="43699" y2="92811"/>
                        <a14:foregroundMark x1="46951" y1="98618" x2="52642" y2="994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726" b="2430"/>
          <a:stretch/>
        </p:blipFill>
        <p:spPr>
          <a:xfrm>
            <a:off x="3063319" y="2451464"/>
            <a:ext cx="7824157" cy="3689264"/>
          </a:xfrm>
          <a:prstGeom prst="rect">
            <a:avLst/>
          </a:prstGeom>
        </p:spPr>
      </p:pic>
      <p:pic>
        <p:nvPicPr>
          <p:cNvPr id="8" name="Picture 7" descr="A group of black rectangular objects with red handles&#10;&#10;AI-generated content may be incorrect.">
            <a:extLst>
              <a:ext uri="{FF2B5EF4-FFF2-40B4-BE49-F238E27FC236}">
                <a16:creationId xmlns:a16="http://schemas.microsoft.com/office/drawing/2014/main" id="{5809F907-0A50-4602-A71C-8248E6EC4D94}"/>
              </a:ext>
            </a:extLst>
          </p:cNvPr>
          <p:cNvPicPr/>
          <p:nvPr/>
        </p:nvPicPr>
        <p:blipFill rotWithShape="1">
          <a:blip r:embed="rId6"/>
          <a:srcRect b="7165"/>
          <a:stretch>
            <a:fillRect/>
          </a:stretch>
        </p:blipFill>
        <p:spPr bwMode="auto">
          <a:xfrm>
            <a:off x="2875762" y="4865160"/>
            <a:ext cx="1924838" cy="14906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DDE3F1-EAA6-4FC4-8285-B10580F00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3864" y="2751222"/>
            <a:ext cx="1062925" cy="1062925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79ECCBE6-D372-4969-B972-2C316FC5B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" r="3842"/>
          <a:stretch/>
        </p:blipFill>
        <p:spPr bwMode="auto">
          <a:xfrm>
            <a:off x="830045" y="1329432"/>
            <a:ext cx="10992017" cy="110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BE1FE35-4BFA-425A-8295-F36486505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081" y="4113905"/>
            <a:ext cx="1808895" cy="36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Lines Of Code Icons - Free SVG &amp; PNG Lines Of Code Images - Noun Project">
            <a:extLst>
              <a:ext uri="{FF2B5EF4-FFF2-40B4-BE49-F238E27FC236}">
                <a16:creationId xmlns:a16="http://schemas.microsoft.com/office/drawing/2014/main" id="{CA5F56A3-A297-4B57-8576-5C0BD73A0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237" y="5065442"/>
            <a:ext cx="1147150" cy="11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42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EDDDA4-A875-445D-A231-1EBED31B1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AE649-5B2F-4C2A-8429-53EA98B3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2F76-0D07-490B-86E7-501B07C47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5</a:t>
            </a:fld>
            <a:endParaRPr lang="en-DE" b="1" dirty="0"/>
          </a:p>
        </p:txBody>
      </p:sp>
      <p:sp>
        <p:nvSpPr>
          <p:cNvPr id="5" name="Textfeld 14">
            <a:extLst>
              <a:ext uri="{FF2B5EF4-FFF2-40B4-BE49-F238E27FC236}">
                <a16:creationId xmlns:a16="http://schemas.microsoft.com/office/drawing/2014/main" id="{3CC2B13E-96FB-4034-BB0E-2E4509AE4315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614AB2-266D-477F-937A-9F1AF8413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" r="3810"/>
          <a:stretch/>
        </p:blipFill>
        <p:spPr bwMode="auto">
          <a:xfrm>
            <a:off x="615949" y="1421692"/>
            <a:ext cx="11206113" cy="114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AFCEE69-1E3D-4937-9C05-F8E2673D5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836" y="2429251"/>
            <a:ext cx="2578327" cy="393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86268A2C-6A3F-4488-B476-A0A840722F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" t="3322"/>
          <a:stretch/>
        </p:blipFill>
        <p:spPr>
          <a:xfrm>
            <a:off x="1003839" y="2938368"/>
            <a:ext cx="3331376" cy="1901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D51A1E-A9E4-4404-878E-4D262477C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433" y="2498837"/>
            <a:ext cx="1927649" cy="2780263"/>
          </a:xfrm>
          <a:prstGeom prst="rect">
            <a:avLst/>
          </a:prstGeom>
        </p:spPr>
      </p:pic>
      <p:pic>
        <p:nvPicPr>
          <p:cNvPr id="10" name="Picture 4" descr="Lines Of Code Icons - Free SVG &amp; PNG Lines Of Code Images - Noun Project">
            <a:extLst>
              <a:ext uri="{FF2B5EF4-FFF2-40B4-BE49-F238E27FC236}">
                <a16:creationId xmlns:a16="http://schemas.microsoft.com/office/drawing/2014/main" id="{93E20906-0365-4395-8036-055BD82A6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208" y="4938976"/>
            <a:ext cx="1235715" cy="123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87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7DCC16-D559-4CDB-A3A8-0CAC9CFF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4E0E5D-C3BE-4DDD-BC0E-F6342F40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5F139-1743-4073-94CC-8B0680A54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6</a:t>
            </a:fld>
            <a:endParaRPr lang="en-D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B4FC5-6B70-4A3A-98B8-0CB51C64C0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83"/>
          <a:stretch>
            <a:fillRect/>
          </a:stretch>
        </p:blipFill>
        <p:spPr>
          <a:xfrm>
            <a:off x="3396858" y="1413157"/>
            <a:ext cx="2699142" cy="3125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2D2281-97B8-4C50-900E-4CFE41CF2459}"/>
              </a:ext>
            </a:extLst>
          </p:cNvPr>
          <p:cNvSpPr txBox="1"/>
          <p:nvPr/>
        </p:nvSpPr>
        <p:spPr>
          <a:xfrm>
            <a:off x="3417332" y="4258621"/>
            <a:ext cx="2407371" cy="26161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GB" sz="1100" b="1" dirty="0">
                <a:latin typeface="Arial"/>
              </a:rPr>
              <a:t>Elevation View</a:t>
            </a:r>
            <a:endParaRPr sz="1100" b="1" dirty="0"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20B9E9-A69C-41F0-A20F-BAA058648EF9}"/>
              </a:ext>
            </a:extLst>
          </p:cNvPr>
          <p:cNvSpPr/>
          <p:nvPr/>
        </p:nvSpPr>
        <p:spPr>
          <a:xfrm>
            <a:off x="3297948" y="979663"/>
            <a:ext cx="2606040" cy="310896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50B22-F5BF-4047-9723-73653E10E961}"/>
              </a:ext>
            </a:extLst>
          </p:cNvPr>
          <p:cNvSpPr txBox="1"/>
          <p:nvPr/>
        </p:nvSpPr>
        <p:spPr>
          <a:xfrm>
            <a:off x="3359457" y="978881"/>
            <a:ext cx="240737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Arial"/>
              </a:rPr>
              <a:t>Experimental 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Plan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6F6317-33C2-472F-A1DB-E35C524F5F86}"/>
              </a:ext>
            </a:extLst>
          </p:cNvPr>
          <p:cNvSpPr/>
          <p:nvPr/>
        </p:nvSpPr>
        <p:spPr>
          <a:xfrm>
            <a:off x="1005801" y="979663"/>
            <a:ext cx="2057400" cy="310896"/>
          </a:xfrm>
          <a:prstGeom prst="round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36EBC-BE5E-4741-BCDE-68573A438CFC}"/>
              </a:ext>
            </a:extLst>
          </p:cNvPr>
          <p:cNvSpPr txBox="1"/>
          <p:nvPr/>
        </p:nvSpPr>
        <p:spPr>
          <a:xfrm>
            <a:off x="1036362" y="975047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Arial"/>
              </a:rPr>
              <a:t>Instrument</a:t>
            </a:r>
          </a:p>
        </p:txBody>
      </p:sp>
      <p:sp>
        <p:nvSpPr>
          <p:cNvPr id="11" name="Rounded Rectangle 76">
            <a:extLst>
              <a:ext uri="{FF2B5EF4-FFF2-40B4-BE49-F238E27FC236}">
                <a16:creationId xmlns:a16="http://schemas.microsoft.com/office/drawing/2014/main" id="{FB9126AC-BA8D-47D1-A74A-CF52FC0D2091}"/>
              </a:ext>
            </a:extLst>
          </p:cNvPr>
          <p:cNvSpPr/>
          <p:nvPr/>
        </p:nvSpPr>
        <p:spPr>
          <a:xfrm>
            <a:off x="954989" y="3308287"/>
            <a:ext cx="2448107" cy="2805177"/>
          </a:xfrm>
          <a:prstGeom prst="roundRect">
            <a:avLst>
              <a:gd name="adj" fmla="val 6661"/>
            </a:avLst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9B0D8B-A0E5-4347-AED7-077CC18CE6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17" t="25104" b="13482"/>
          <a:stretch>
            <a:fillRect/>
          </a:stretch>
        </p:blipFill>
        <p:spPr>
          <a:xfrm>
            <a:off x="3546175" y="4577053"/>
            <a:ext cx="2121158" cy="1603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EACA8-5748-4FB2-8920-F36F4B2A2C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95" y="1339451"/>
            <a:ext cx="1808967" cy="17148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837B0B-71EB-4AE1-A620-7113CE1E5EF5}"/>
              </a:ext>
            </a:extLst>
          </p:cNvPr>
          <p:cNvSpPr txBox="1"/>
          <p:nvPr/>
        </p:nvSpPr>
        <p:spPr>
          <a:xfrm>
            <a:off x="949616" y="3689441"/>
            <a:ext cx="2344510" cy="2492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000000"/>
                </a:solidFill>
                <a:latin typeface="Arial"/>
              </a:rPr>
              <a:t>Triaxial accelerometer triaxial velocity sensor</a:t>
            </a:r>
            <a:endParaRPr lang="en-GB" sz="1200" b="0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24-bit ADC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Acceleration range: ±2g / ±4g / ±8g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Sampling frequency: 10 –4800 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Built-in analogue &amp; digital anti-aliasing filters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Synchronisation: 2.4 GHz radio or GPS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Self-noise density: 25 µg/√Hz</a:t>
            </a:r>
          </a:p>
          <a:p>
            <a:pPr algn="l"/>
            <a:endParaRPr lang="en-GB"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C6B34-5728-4066-8F22-AD31F9D1BCD3}"/>
              </a:ext>
            </a:extLst>
          </p:cNvPr>
          <p:cNvSpPr txBox="1"/>
          <p:nvPr/>
        </p:nvSpPr>
        <p:spPr>
          <a:xfrm>
            <a:off x="1147082" y="2949323"/>
            <a:ext cx="1783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1400" b="1" dirty="0" err="1">
                <a:solidFill>
                  <a:srgbClr val="000000"/>
                </a:solidFill>
                <a:latin typeface="Arial"/>
              </a:rPr>
              <a:t>Sensequake</a:t>
            </a:r>
            <a:r>
              <a:rPr lang="en-GB"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GB" sz="1400" b="1" dirty="0" err="1">
                <a:solidFill>
                  <a:srgbClr val="000000"/>
                </a:solidFill>
                <a:latin typeface="Arial"/>
              </a:rPr>
              <a:t>Larzé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DCD70-7594-47C8-8780-471462DD7AB4}"/>
              </a:ext>
            </a:extLst>
          </p:cNvPr>
          <p:cNvSpPr txBox="1"/>
          <p:nvPr/>
        </p:nvSpPr>
        <p:spPr>
          <a:xfrm>
            <a:off x="1007141" y="3393880"/>
            <a:ext cx="17830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1300" b="1" dirty="0">
                <a:solidFill>
                  <a:srgbClr val="000000"/>
                </a:solidFill>
                <a:latin typeface="Arial"/>
              </a:rPr>
              <a:t>Specification</a:t>
            </a:r>
            <a:endParaRPr sz="13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AA7985-499E-4E47-BBA6-1623F9C000DF}"/>
              </a:ext>
            </a:extLst>
          </p:cNvPr>
          <p:cNvSpPr txBox="1"/>
          <p:nvPr/>
        </p:nvSpPr>
        <p:spPr>
          <a:xfrm>
            <a:off x="3417332" y="5909439"/>
            <a:ext cx="2407371" cy="26161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GB" sz="1100" b="1" dirty="0">
                <a:latin typeface="Arial"/>
              </a:rPr>
              <a:t>Layout Plan</a:t>
            </a:r>
            <a:endParaRPr sz="1100" b="1" dirty="0"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395B7-D883-49CD-A748-11EE6D25FD3F}"/>
              </a:ext>
            </a:extLst>
          </p:cNvPr>
          <p:cNvSpPr txBox="1"/>
          <p:nvPr/>
        </p:nvSpPr>
        <p:spPr>
          <a:xfrm>
            <a:off x="6443955" y="1687232"/>
            <a:ext cx="1634924" cy="5152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000000"/>
                </a:solidFill>
                <a:latin typeface="Arial"/>
              </a:rPr>
              <a:t>Sampling</a:t>
            </a:r>
            <a:r>
              <a:rPr lang="en-GB" sz="1200" dirty="0">
                <a:solidFill>
                  <a:srgbClr val="000000"/>
                </a:solidFill>
                <a:latin typeface="Arial"/>
              </a:rPr>
              <a:t>: 400 Hz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Duration: 30 min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D4CDF0-A1AE-418B-AFAE-9DD364935FCC}"/>
              </a:ext>
            </a:extLst>
          </p:cNvPr>
          <p:cNvSpPr txBox="1"/>
          <p:nvPr/>
        </p:nvSpPr>
        <p:spPr>
          <a:xfrm>
            <a:off x="8078879" y="1698614"/>
            <a:ext cx="5907024" cy="5152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Range Used: ±2g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/>
              </a:rPr>
              <a:t>Measurement Date: 12 Aug 2026</a:t>
            </a:r>
            <a:endParaRPr sz="1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02B3E7-F722-42A7-8C03-9ADEDB08CE4A}"/>
              </a:ext>
            </a:extLst>
          </p:cNvPr>
          <p:cNvSpPr txBox="1"/>
          <p:nvPr/>
        </p:nvSpPr>
        <p:spPr>
          <a:xfrm>
            <a:off x="6456040" y="1413157"/>
            <a:ext cx="2913995" cy="3270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400" b="1" dirty="0">
                <a:solidFill>
                  <a:srgbClr val="000000"/>
                </a:solidFill>
                <a:latin typeface="Arial"/>
              </a:rPr>
              <a:t>Measurement Information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311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623905-AFAC-4896-A917-B2FFE8778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4035A-F696-4BDC-8151-A0FF1411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2C210-E770-481F-ABDF-B28500DC3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7</a:t>
            </a:fld>
            <a:endParaRPr lang="en-DE" b="1" dirty="0"/>
          </a:p>
        </p:txBody>
      </p:sp>
      <p:sp>
        <p:nvSpPr>
          <p:cNvPr id="5" name="Textfeld 14">
            <a:extLst>
              <a:ext uri="{FF2B5EF4-FFF2-40B4-BE49-F238E27FC236}">
                <a16:creationId xmlns:a16="http://schemas.microsoft.com/office/drawing/2014/main" id="{271A8872-D46C-420C-BB62-6370E35909D2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  <p:sp>
        <p:nvSpPr>
          <p:cNvPr id="22" name="Foliennummernplatzhalter 16">
            <a:extLst>
              <a:ext uri="{FF2B5EF4-FFF2-40B4-BE49-F238E27FC236}">
                <a16:creationId xmlns:a16="http://schemas.microsoft.com/office/drawing/2014/main" id="{E663DEEA-8270-4A91-AEDB-B542CEA71AF8}"/>
              </a:ext>
            </a:extLst>
          </p:cNvPr>
          <p:cNvSpPr txBox="1">
            <a:spLocks/>
          </p:cNvSpPr>
          <p:nvPr/>
        </p:nvSpPr>
        <p:spPr>
          <a:xfrm>
            <a:off x="11130117" y="6575016"/>
            <a:ext cx="577645" cy="202732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DE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2C3C4A-5FE2-4619-B37B-528BA8A75C66}" type="slidenum">
              <a:rPr lang="de-DE" smtClean="0">
                <a:solidFill>
                  <a:schemeClr val="tx1">
                    <a:lumMod val="65000"/>
                    <a:lumOff val="35000"/>
                  </a:schemeClr>
                </a:solidFill>
                <a:latin typeface="Linotype Syntax"/>
              </a:rPr>
              <a:pPr/>
              <a:t>7</a:t>
            </a:fld>
            <a:endParaRPr lang="de-DE" dirty="0">
              <a:solidFill>
                <a:schemeClr val="tx1">
                  <a:lumMod val="65000"/>
                  <a:lumOff val="35000"/>
                </a:schemeClr>
              </a:solidFill>
              <a:latin typeface="Linotype Syntax"/>
            </a:endParaRPr>
          </a:p>
        </p:txBody>
      </p:sp>
      <p:sp>
        <p:nvSpPr>
          <p:cNvPr id="23" name="Textfeld 14">
            <a:extLst>
              <a:ext uri="{FF2B5EF4-FFF2-40B4-BE49-F238E27FC236}">
                <a16:creationId xmlns:a16="http://schemas.microsoft.com/office/drawing/2014/main" id="{07C94089-C5A8-4A62-B6FC-831D22452649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  <p:pic>
        <p:nvPicPr>
          <p:cNvPr id="24" name="Content Placeholder 17">
            <a:extLst>
              <a:ext uri="{FF2B5EF4-FFF2-40B4-BE49-F238E27FC236}">
                <a16:creationId xmlns:a16="http://schemas.microsoft.com/office/drawing/2014/main" id="{A0611D29-AE68-4D8E-B3D4-775CFBBE77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3" t="26759" r="18596" b="30678"/>
          <a:stretch/>
        </p:blipFill>
        <p:spPr>
          <a:xfrm>
            <a:off x="2459751" y="4179278"/>
            <a:ext cx="2270501" cy="1852048"/>
          </a:xfrm>
          <a:prstGeom prst="rect">
            <a:avLst/>
          </a:prstGeom>
        </p:spPr>
      </p:pic>
      <p:pic>
        <p:nvPicPr>
          <p:cNvPr id="25" name="Picture 4" descr="Lines Of Code Icons - Free SVG &amp; PNG Lines Of Code Images - Noun Project">
            <a:extLst>
              <a:ext uri="{FF2B5EF4-FFF2-40B4-BE49-F238E27FC236}">
                <a16:creationId xmlns:a16="http://schemas.microsoft.com/office/drawing/2014/main" id="{5D27ED96-9848-4338-B113-F708F8E99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685" y="2848901"/>
            <a:ext cx="1235715" cy="123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D38D74C-BC31-4A4B-B26C-AE8B15A9E6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1" t="19504" r="24376" b="10390"/>
          <a:stretch/>
        </p:blipFill>
        <p:spPr>
          <a:xfrm>
            <a:off x="579541" y="1212275"/>
            <a:ext cx="1549831" cy="29524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5AB1FEB-F300-40E3-B1A2-C01313B1A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346" y="1106530"/>
            <a:ext cx="2308906" cy="30537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917E00D-F218-4A4E-9A3D-385C1D27B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770" y="1479671"/>
            <a:ext cx="1636955" cy="21740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C2E1E9-77A1-4533-A20E-5B6548D6610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98"/>
          <a:stretch/>
        </p:blipFill>
        <p:spPr>
          <a:xfrm>
            <a:off x="6862603" y="3857245"/>
            <a:ext cx="1198294" cy="21740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EC6EE17-5676-47E6-BB5C-A8CA5914D33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6"/>
          <a:stretch/>
        </p:blipFill>
        <p:spPr>
          <a:xfrm>
            <a:off x="8831926" y="2190658"/>
            <a:ext cx="1076526" cy="2174081"/>
          </a:xfrm>
          <a:prstGeom prst="rect">
            <a:avLst/>
          </a:prstGeom>
        </p:spPr>
      </p:pic>
      <p:pic>
        <p:nvPicPr>
          <p:cNvPr id="31" name="Picture 2" descr="Nordic Thingy:53 wins Best IoT Innovation of the Year in 2022 EM Best  Awards - nordicsemi.com">
            <a:extLst>
              <a:ext uri="{FF2B5EF4-FFF2-40B4-BE49-F238E27FC236}">
                <a16:creationId xmlns:a16="http://schemas.microsoft.com/office/drawing/2014/main" id="{0DAC7DF2-FAF8-4E88-B889-D3C9FB5D0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9" t="15545" r="10024"/>
          <a:stretch/>
        </p:blipFill>
        <p:spPr bwMode="auto">
          <a:xfrm>
            <a:off x="579541" y="4657879"/>
            <a:ext cx="1693469" cy="12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FAF2C5E-F35F-44ED-B97E-55D2326A62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394" y="1085850"/>
            <a:ext cx="3924300" cy="57721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86641DF-F532-4093-920B-CB0777E863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117" y="4421066"/>
            <a:ext cx="2381250" cy="19145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F587CB6-B7D8-48B6-BA59-93D5037C4B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725" y="5265401"/>
            <a:ext cx="765711" cy="58838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B1B2596-89CA-4C57-92EA-BFC007F70617}"/>
              </a:ext>
            </a:extLst>
          </p:cNvPr>
          <p:cNvSpPr txBox="1"/>
          <p:nvPr/>
        </p:nvSpPr>
        <p:spPr>
          <a:xfrm>
            <a:off x="9415742" y="5448300"/>
            <a:ext cx="1328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Sensitivity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E0A52F-49D9-4107-B766-D04BB863D1A7}"/>
              </a:ext>
            </a:extLst>
          </p:cNvPr>
          <p:cNvSpPr txBox="1"/>
          <p:nvPr/>
        </p:nvSpPr>
        <p:spPr>
          <a:xfrm>
            <a:off x="699865" y="5775520"/>
            <a:ext cx="1455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Thingy:53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B469CD-67FB-4E95-811B-33B4807781A6}"/>
              </a:ext>
            </a:extLst>
          </p:cNvPr>
          <p:cNvSpPr txBox="1"/>
          <p:nvPr/>
        </p:nvSpPr>
        <p:spPr>
          <a:xfrm>
            <a:off x="2697639" y="5929476"/>
            <a:ext cx="175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 3B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61184F-7DD0-4386-8369-425B8FB01CB8}"/>
              </a:ext>
            </a:extLst>
          </p:cNvPr>
          <p:cNvSpPr txBox="1"/>
          <p:nvPr/>
        </p:nvSpPr>
        <p:spPr>
          <a:xfrm>
            <a:off x="2019872" y="1047276"/>
            <a:ext cx="175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MPU 6050</a:t>
            </a:r>
            <a:endParaRPr lang="en-US" dirty="0"/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3788C21B-CC6E-49C8-8258-607FC9DB86AD}"/>
              </a:ext>
            </a:extLst>
          </p:cNvPr>
          <p:cNvSpPr/>
          <p:nvPr/>
        </p:nvSpPr>
        <p:spPr>
          <a:xfrm>
            <a:off x="2770226" y="1416608"/>
            <a:ext cx="146365" cy="7158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25AE8B-D9F9-4E12-B060-A2B57F33C9D1}"/>
              </a:ext>
            </a:extLst>
          </p:cNvPr>
          <p:cNvSpPr txBox="1"/>
          <p:nvPr/>
        </p:nvSpPr>
        <p:spPr>
          <a:xfrm>
            <a:off x="421219" y="4062785"/>
            <a:ext cx="1756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Raspberry Pi Zero W</a:t>
            </a:r>
          </a:p>
        </p:txBody>
      </p:sp>
    </p:spTree>
    <p:extLst>
      <p:ext uri="{BB962C8B-B14F-4D97-AF65-F5344CB8AC3E}">
        <p14:creationId xmlns:p14="http://schemas.microsoft.com/office/powerpoint/2010/main" val="45084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F0FC90-3517-1BF0-5156-9F25489A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8D81-C08D-38DD-F70D-212BA2543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8</a:t>
            </a:fld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49913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E43B72-BD2C-18E4-33FA-85A09C28D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C1ED4F-962D-7406-E9BC-5C48E644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07E21-7460-D70A-8819-12EE1F3F0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9</a:t>
            </a:fld>
            <a:endParaRPr lang="en-DE" b="1" dirty="0"/>
          </a:p>
        </p:txBody>
      </p:sp>
      <p:sp>
        <p:nvSpPr>
          <p:cNvPr id="5" name="Foliennummernplatzhalter 16">
            <a:extLst>
              <a:ext uri="{FF2B5EF4-FFF2-40B4-BE49-F238E27FC236}">
                <a16:creationId xmlns:a16="http://schemas.microsoft.com/office/drawing/2014/main" id="{E2E3A22A-21A2-4318-8C33-88833F897228}"/>
              </a:ext>
            </a:extLst>
          </p:cNvPr>
          <p:cNvSpPr txBox="1">
            <a:spLocks/>
          </p:cNvSpPr>
          <p:nvPr/>
        </p:nvSpPr>
        <p:spPr>
          <a:xfrm>
            <a:off x="11130117" y="6575016"/>
            <a:ext cx="577645" cy="202732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DE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2C3C4A-5FE2-4619-B37B-528BA8A75C66}" type="slidenum">
              <a:rPr lang="de-DE" smtClean="0">
                <a:solidFill>
                  <a:schemeClr val="tx1">
                    <a:lumMod val="65000"/>
                    <a:lumOff val="35000"/>
                  </a:schemeClr>
                </a:solidFill>
                <a:latin typeface="Linotype Syntax"/>
              </a:rPr>
              <a:pPr/>
              <a:t>9</a:t>
            </a:fld>
            <a:endParaRPr lang="de-DE" dirty="0">
              <a:solidFill>
                <a:schemeClr val="tx1">
                  <a:lumMod val="65000"/>
                  <a:lumOff val="35000"/>
                </a:schemeClr>
              </a:solidFill>
              <a:latin typeface="Linotype Syntax"/>
            </a:endParaRPr>
          </a:p>
        </p:txBody>
      </p:sp>
      <p:sp>
        <p:nvSpPr>
          <p:cNvPr id="6" name="Textfeld 14">
            <a:extLst>
              <a:ext uri="{FF2B5EF4-FFF2-40B4-BE49-F238E27FC236}">
                <a16:creationId xmlns:a16="http://schemas.microsoft.com/office/drawing/2014/main" id="{9EB95687-CAD3-4F3A-80AE-0626BC0B5189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</p:spTree>
    <p:extLst>
      <p:ext uri="{BB962C8B-B14F-4D97-AF65-F5344CB8AC3E}">
        <p14:creationId xmlns:p14="http://schemas.microsoft.com/office/powerpoint/2010/main" val="97361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F8FBD-0424-6A75-384C-FF1292D3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5A44D-DF5E-B6FB-BEE4-88657A582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10</a:t>
            </a:fld>
            <a:endParaRPr lang="en-DE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209C01-2EDE-F6E7-58F7-4AE7398E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feld 14">
            <a:extLst>
              <a:ext uri="{FF2B5EF4-FFF2-40B4-BE49-F238E27FC236}">
                <a16:creationId xmlns:a16="http://schemas.microsoft.com/office/drawing/2014/main" id="{ECDDBA71-2142-4DBD-B5D6-4343DA9B8343}"/>
              </a:ext>
            </a:extLst>
          </p:cNvPr>
          <p:cNvSpPr txBox="1"/>
          <p:nvPr/>
        </p:nvSpPr>
        <p:spPr>
          <a:xfrm>
            <a:off x="3975982" y="4212496"/>
            <a:ext cx="2083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  <a:cs typeface="Arial" panose="020B0604020202020204" pitchFamily="34" charset="0"/>
              </a:rPr>
              <a:t>©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Linotype Syntax"/>
              </a:rPr>
              <a:t> Associated Press</a:t>
            </a:r>
            <a:r>
              <a:rPr lang="en-GB" dirty="0">
                <a:solidFill>
                  <a:schemeClr val="bg1"/>
                </a:solidFill>
                <a:latin typeface="Linotype Syntax"/>
              </a:rPr>
              <a:t> </a:t>
            </a:r>
            <a:endParaRPr lang="en-GB" b="0" dirty="0">
              <a:solidFill>
                <a:schemeClr val="bg1"/>
              </a:solidFill>
              <a:effectLst/>
              <a:latin typeface="Linotype Syntax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FB4F1-12D0-42EB-8C4D-8A79A3F8D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49" y="2068994"/>
            <a:ext cx="4658975" cy="3335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6F640-9576-4680-BF9C-F73349584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924" y="1485352"/>
            <a:ext cx="2918752" cy="4091709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A461E19-8624-4127-B27A-586B4100FD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3" b="11555"/>
          <a:stretch/>
        </p:blipFill>
        <p:spPr>
          <a:xfrm>
            <a:off x="6877891" y="1743199"/>
            <a:ext cx="5318982" cy="3848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28767-7C2C-42FF-904F-2F01D3A35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72" y="4119434"/>
            <a:ext cx="5318982" cy="1835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3ACACD-C97A-4DA5-8E60-0BF83DDC4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97" y="1462089"/>
            <a:ext cx="5518847" cy="2640286"/>
          </a:xfrm>
          <a:prstGeom prst="snip2DiagRect">
            <a:avLst/>
          </a:prstGeom>
        </p:spPr>
      </p:pic>
      <p:pic>
        <p:nvPicPr>
          <p:cNvPr id="11" name="Picture 10" descr="Sanierung des Studierendenwohnhauses Jakobsplan 1 in Weimar -  Architekturobjekte - heinze.de">
            <a:extLst>
              <a:ext uri="{FF2B5EF4-FFF2-40B4-BE49-F238E27FC236}">
                <a16:creationId xmlns:a16="http://schemas.microsoft.com/office/drawing/2014/main" id="{BEE9F5C2-6686-45A1-8915-21BC9881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460" y="1243667"/>
            <a:ext cx="3872963" cy="4816996"/>
          </a:xfrm>
          <a:prstGeom prst="snip2Diag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48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BEE04-1B9B-5318-180A-C153C5A9B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1D3C8C-6A16-47C5-AAF2-6C742C9BB8A7}" type="slidenum">
              <a:rPr lang="en-DE" smtClean="0"/>
              <a:pPr/>
              <a:t>11</a:t>
            </a:fld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59149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rgbClr val="FFFFFF"/>
      </a:lt1>
      <a:dk2>
        <a:srgbClr val="0E2841"/>
      </a:dk2>
      <a:lt2>
        <a:srgbClr val="FFFFFF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ira Sans">
      <a:majorFont>
        <a:latin typeface="Fira Sans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smtClean="0">
            <a:latin typeface="Fira Sans" panose="020B05030500000200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8017</TotalTime>
  <Words>237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Bahnschrift</vt:lpstr>
      <vt:lpstr>Fira Sans</vt:lpstr>
      <vt:lpstr>Linotype Syntax</vt:lpstr>
      <vt:lpstr>Office Theme</vt:lpstr>
      <vt:lpstr>Digital Twin-Based Wind Load Assessment of a GDR Heritage Building under Climate Change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Twin-Based Wind Load Assessment of a GDR Heritage Building under Climate Change</dc:title>
  <dc:creator>Endegena Ayalew Zelelew</dc:creator>
  <cp:lastModifiedBy>Administrator</cp:lastModifiedBy>
  <cp:revision>88</cp:revision>
  <cp:lastPrinted>2026-09-02T09:18:28Z</cp:lastPrinted>
  <dcterms:created xsi:type="dcterms:W3CDTF">2026-06-02T14:36:00Z</dcterms:created>
  <dcterms:modified xsi:type="dcterms:W3CDTF">2026-09-21T16:17:18Z</dcterms:modified>
</cp:coreProperties>
</file>